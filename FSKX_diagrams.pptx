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2C2A"/>
                </a:solidFill>
                <a:latin typeface="Calibri"/>
              </a:rPr>
              <a:t>How the app builds &amp; runs Docker containers</a:t>
            </a:r>
          </a:p>
          <a:p>
            <a:r>
              <a:rPr sz="1300">
                <a:solidFill>
                  <a:srgbClr val="5F5E5A"/>
                </a:solidFill>
                <a:latin typeface="Calibri"/>
              </a:rPr>
              <a:t>It ships only the Docker CLI and drives the host's Docker daemon through a mounted socket.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50225" y="1530471"/>
            <a:ext cx="7090623" cy="4703446"/>
          </a:xfrm>
          <a:prstGeom prst="roundRect">
            <a:avLst>
              <a:gd name="adj" fmla="val 3000"/>
            </a:avLst>
          </a:prstGeom>
          <a:noFill/>
          <a:ln w="17780">
            <a:solidFill>
              <a:srgbClr val="B4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39308" y="1660466"/>
            <a:ext cx="146304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2C2A"/>
                </a:solidFill>
                <a:latin typeface="Calibri"/>
              </a:rPr>
              <a:t>Host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0225" y="868680"/>
            <a:ext cx="2954426" cy="519979"/>
          </a:xfrm>
          <a:prstGeom prst="roundRect">
            <a:avLst>
              <a:gd name="adj" fmla="val 9000"/>
            </a:avLst>
          </a:prstGeom>
          <a:solidFill>
            <a:srgbClr val="F1EFE8"/>
          </a:solidFill>
          <a:ln w="1778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02" b="1">
                <a:solidFill>
                  <a:srgbClr val="2C2C2A"/>
                </a:solidFill>
                <a:latin typeface="Calibri"/>
              </a:rPr>
              <a:t>1 · ./run.sh (on host)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5F5E5A"/>
                </a:solidFill>
                <a:latin typeface="Calibri"/>
              </a:rPr>
              <a:t>docker build · docker run</a:t>
            </a:r>
          </a:p>
        </p:txBody>
      </p:sp>
      <p:sp>
        <p:nvSpPr>
          <p:cNvPr id="6" name="Oval 5"/>
          <p:cNvSpPr/>
          <p:nvPr/>
        </p:nvSpPr>
        <p:spPr>
          <a:xfrm>
            <a:off x="2641665" y="950976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05673" y="1036929"/>
            <a:ext cx="219456" cy="175564"/>
          </a:xfrm>
          <a:prstGeom prst="roundRect">
            <a:avLst/>
          </a:prstGeom>
          <a:noFill/>
          <a:ln w="1651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2775167" y="1095451"/>
            <a:ext cx="80467" cy="87782"/>
          </a:xfrm>
          <a:prstGeom prst="triangle">
            <a:avLst/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027438" y="1388659"/>
            <a:ext cx="0" cy="685426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0214" y="2097721"/>
            <a:ext cx="6570644" cy="543614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02" b="1">
                <a:solidFill>
                  <a:srgbClr val="0C447C"/>
                </a:solidFill>
                <a:latin typeface="Calibri"/>
              </a:rPr>
              <a:t>Docker daemon (dockerd)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185FA5"/>
                </a:solidFill>
                <a:latin typeface="Calibri"/>
              </a:rPr>
              <a:t>executes every docker build &amp; run — on the host</a:t>
            </a:r>
          </a:p>
        </p:txBody>
      </p:sp>
      <p:sp>
        <p:nvSpPr>
          <p:cNvPr id="11" name="Oval 10"/>
          <p:cNvSpPr/>
          <p:nvPr/>
        </p:nvSpPr>
        <p:spPr>
          <a:xfrm>
            <a:off x="2901654" y="2180017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65662" y="2262313"/>
            <a:ext cx="219456" cy="80467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5662" y="2364726"/>
            <a:ext cx="219456" cy="80467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429240" y="2641335"/>
            <a:ext cx="0" cy="165448"/>
          </a:xfrm>
          <a:prstGeom prst="line">
            <a:avLst/>
          </a:prstGeom>
          <a:ln w="19050">
            <a:solidFill>
              <a:srgbClr val="BA7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42912" y="2806783"/>
            <a:ext cx="1772655" cy="283624"/>
          </a:xfrm>
          <a:prstGeom prst="roundRect">
            <a:avLst>
              <a:gd name="adj" fmla="val 9000"/>
            </a:avLst>
          </a:prstGeom>
          <a:solidFill>
            <a:srgbClr val="FAEEDA"/>
          </a:solidFill>
          <a:ln w="1778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 tIns="36576" bIns="18288"/>
          <a:lstStyle/>
          <a:p>
            <a:pPr algn="ctr"/>
            <a:r>
              <a:rPr sz="1116" b="1">
                <a:solidFill>
                  <a:srgbClr val="633806"/>
                </a:solidFill>
                <a:latin typeface="Calibri"/>
              </a:rPr>
              <a:t>/var/run/docker.sock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29240" y="3090408"/>
            <a:ext cx="0" cy="307260"/>
          </a:xfrm>
          <a:prstGeom prst="line">
            <a:avLst/>
          </a:prstGeom>
          <a:ln w="19050">
            <a:solidFill>
              <a:srgbClr val="BA751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33745" y="2924960"/>
            <a:ext cx="146304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16" b="0">
                <a:solidFill>
                  <a:srgbClr val="5F5E5A"/>
                </a:solidFill>
                <a:latin typeface="Calibri"/>
              </a:rPr>
              <a:t>CLI ⇄ daemon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0214" y="3421304"/>
            <a:ext cx="3119874" cy="1772655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02" b="1">
                <a:solidFill>
                  <a:srgbClr val="085041"/>
                </a:solidFill>
                <a:latin typeface="Calibri"/>
              </a:rPr>
              <a:t>App container · fskx-runner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0F6E56"/>
                </a:solidFill>
                <a:latin typeface="Calibri"/>
              </a:rPr>
              <a:t>Flask web server (server.py)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0F6E56"/>
                </a:solidFill>
                <a:latin typeface="Calibri"/>
              </a:rPr>
              <a:t>Docker CLI — client only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0F6E56"/>
                </a:solidFill>
                <a:latin typeface="Calibri"/>
              </a:rPr>
              <a:t>engine.py / aienv.py issue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0F6E56"/>
                </a:solidFill>
                <a:latin typeface="Calibri"/>
              </a:rPr>
              <a:t>docker build &amp; docker run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0F6E56"/>
                </a:solidFill>
                <a:latin typeface="Calibri"/>
              </a:rPr>
              <a:t>no daemon runs here</a:t>
            </a:r>
          </a:p>
        </p:txBody>
      </p:sp>
      <p:sp>
        <p:nvSpPr>
          <p:cNvPr id="19" name="Oval 18"/>
          <p:cNvSpPr/>
          <p:nvPr/>
        </p:nvSpPr>
        <p:spPr>
          <a:xfrm>
            <a:off x="2901654" y="3503600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65662" y="3596869"/>
            <a:ext cx="219456" cy="160934"/>
          </a:xfrm>
          <a:prstGeom prst="roundRect">
            <a:avLst/>
          </a:prstGeom>
          <a:noFill/>
          <a:ln w="1651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65662" y="3598698"/>
            <a:ext cx="219456" cy="40233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750015" y="2641335"/>
            <a:ext cx="0" cy="756333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68192" y="2924960"/>
            <a:ext cx="146304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16" b="0">
                <a:solidFill>
                  <a:srgbClr val="5F5E5A"/>
                </a:solidFill>
                <a:latin typeface="Calibri"/>
              </a:rPr>
              <a:t>creates sibling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3713" y="3421304"/>
            <a:ext cx="3167145" cy="1772655"/>
          </a:xfrm>
          <a:prstGeom prst="roundRect">
            <a:avLst>
              <a:gd name="adj" fmla="val 9000"/>
            </a:avLst>
          </a:prstGeom>
          <a:solidFill>
            <a:srgbClr val="EEEDFE"/>
          </a:solidFill>
          <a:ln w="1778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02" b="1">
                <a:solidFill>
                  <a:srgbClr val="3C3489"/>
                </a:solidFill>
                <a:latin typeface="Calibri"/>
              </a:rPr>
              <a:t>Per-model container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534AB7"/>
                </a:solidFill>
                <a:latin typeface="Calibri"/>
              </a:rPr>
              <a:t>sibling of the app, not a child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534AB7"/>
                </a:solidFill>
                <a:latin typeface="Calibri"/>
              </a:rPr>
              <a:t>micromamba env or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534AB7"/>
                </a:solidFill>
                <a:latin typeface="Calibri"/>
              </a:rPr>
              <a:t>Claude-built model image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534AB7"/>
                </a:solidFill>
                <a:latin typeface="Calibri"/>
              </a:rPr>
              <a:t>runs run_python_model.py / .R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534AB7"/>
                </a:solidFill>
                <a:latin typeface="Calibri"/>
              </a:rPr>
              <a:t>produces results in /work</a:t>
            </a:r>
          </a:p>
        </p:txBody>
      </p:sp>
      <p:sp>
        <p:nvSpPr>
          <p:cNvPr id="25" name="Oval 24"/>
          <p:cNvSpPr/>
          <p:nvPr/>
        </p:nvSpPr>
        <p:spPr>
          <a:xfrm>
            <a:off x="6305153" y="3503600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ube 25"/>
          <p:cNvSpPr/>
          <p:nvPr/>
        </p:nvSpPr>
        <p:spPr>
          <a:xfrm>
            <a:off x="6391107" y="3589554"/>
            <a:ext cx="175564" cy="175564"/>
          </a:xfrm>
          <a:prstGeom prst="cub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370151" y="5193960"/>
            <a:ext cx="0" cy="236354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31838" y="5193960"/>
            <a:ext cx="0" cy="236354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31943" y="5241231"/>
            <a:ext cx="146304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16" b="0">
                <a:solidFill>
                  <a:srgbClr val="5F5E5A"/>
                </a:solidFill>
                <a:latin typeface="Calibri"/>
              </a:rPr>
              <a:t>share fskx_work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0214" y="5430314"/>
            <a:ext cx="6570644" cy="543614"/>
          </a:xfrm>
          <a:prstGeom prst="roundRect">
            <a:avLst>
              <a:gd name="adj" fmla="val 9000"/>
            </a:avLst>
          </a:prstGeom>
          <a:solidFill>
            <a:srgbClr val="FAEEDA"/>
          </a:solidFill>
          <a:ln w="1778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02" b="1">
                <a:solidFill>
                  <a:srgbClr val="633806"/>
                </a:solidFill>
                <a:latin typeface="Calibri"/>
              </a:rPr>
              <a:t>Host named volumes &amp; bind mounts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16">
                <a:solidFill>
                  <a:srgbClr val="854F0B"/>
                </a:solidFill>
                <a:latin typeface="Calibri"/>
              </a:rPr>
              <a:t>fskx_work (shared /work)   ·   fskx_envs   ·   models/ (bind)</a:t>
            </a:r>
          </a:p>
        </p:txBody>
      </p:sp>
      <p:sp>
        <p:nvSpPr>
          <p:cNvPr id="31" name="Oval 30"/>
          <p:cNvSpPr/>
          <p:nvPr/>
        </p:nvSpPr>
        <p:spPr>
          <a:xfrm>
            <a:off x="2901654" y="5512610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n 31"/>
          <p:cNvSpPr/>
          <p:nvPr/>
        </p:nvSpPr>
        <p:spPr>
          <a:xfrm>
            <a:off x="2994923" y="5591248"/>
            <a:ext cx="160934" cy="190195"/>
          </a:xfrm>
          <a:prstGeom prst="can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0225" y="6328459"/>
            <a:ext cx="86868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5F5E5A"/>
                </a:solidFill>
                <a:latin typeface="Calibri"/>
              </a:rPr>
              <a:t>Model containers are siblings on the host daemon, not nested in the app — DooD, not Docker-in-Docker.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2C2A"/>
                </a:solidFill>
                <a:latin typeface="Calibri"/>
              </a:rPr>
              <a:t>Using the app: download a model and run it</a:t>
            </a:r>
          </a:p>
          <a:p>
            <a:r>
              <a:rPr sz="1300">
                <a:solidFill>
                  <a:srgbClr val="5F5E5A"/>
                </a:solidFill>
                <a:latin typeface="Calibri"/>
              </a:rPr>
              <a:t>The blue steps happen in the app in your browser; it reaches out to the library, your files, and Claude.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63309" y="868680"/>
            <a:ext cx="3163079" cy="482912"/>
          </a:xfrm>
          <a:prstGeom prst="roundRect">
            <a:avLst>
              <a:gd name="adj" fmla="val 9000"/>
            </a:avLst>
          </a:prstGeom>
          <a:solidFill>
            <a:srgbClr val="F1EFE8"/>
          </a:solidFill>
          <a:ln w="1778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2C2C2A"/>
                </a:solidFill>
                <a:latin typeface="Calibri"/>
              </a:rPr>
              <a:t>You — the researcher</a:t>
            </a:r>
          </a:p>
        </p:txBody>
      </p:sp>
      <p:sp>
        <p:nvSpPr>
          <p:cNvPr id="4" name="Oval 3"/>
          <p:cNvSpPr/>
          <p:nvPr/>
        </p:nvSpPr>
        <p:spPr>
          <a:xfrm>
            <a:off x="2854749" y="950976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86423" y="1031443"/>
            <a:ext cx="84124" cy="84124"/>
          </a:xfrm>
          <a:prstGeom prst="ellipse">
            <a:avLst/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2951675" y="1128369"/>
            <a:ext cx="153619" cy="87782"/>
          </a:xfrm>
          <a:prstGeom prst="trapezoid">
            <a:avLst/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344849" y="1351592"/>
            <a:ext cx="0" cy="96583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3309" y="1448175"/>
            <a:ext cx="3163079" cy="651932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0C447C"/>
                </a:solidFill>
                <a:latin typeface="Calibri"/>
              </a:rPr>
              <a:t>1 · Start the app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double-click run.bat / run.sh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→ opens in your web browser</a:t>
            </a:r>
          </a:p>
        </p:txBody>
      </p:sp>
      <p:sp>
        <p:nvSpPr>
          <p:cNvPr id="9" name="Oval 8"/>
          <p:cNvSpPr/>
          <p:nvPr/>
        </p:nvSpPr>
        <p:spPr>
          <a:xfrm>
            <a:off x="2854749" y="1530471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955333" y="1623740"/>
            <a:ext cx="146304" cy="160934"/>
          </a:xfrm>
          <a:prstGeom prst="triangle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63309" y="2317418"/>
            <a:ext cx="3163079" cy="700223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0C447C"/>
                </a:solidFill>
                <a:latin typeface="Calibri"/>
              </a:rPr>
              <a:t>2 · Find a model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browse the online catalogue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and download the one you want</a:t>
            </a:r>
          </a:p>
        </p:txBody>
      </p:sp>
      <p:sp>
        <p:nvSpPr>
          <p:cNvPr id="12" name="Oval 11"/>
          <p:cNvSpPr/>
          <p:nvPr/>
        </p:nvSpPr>
        <p:spPr>
          <a:xfrm>
            <a:off x="2854749" y="2399714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2933387" y="2478353"/>
            <a:ext cx="146304" cy="146304"/>
          </a:xfrm>
          <a:prstGeom prst="donu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2700000">
            <a:off x="3061403" y="2635629"/>
            <a:ext cx="95097" cy="36576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63309" y="3234953"/>
            <a:ext cx="3163079" cy="700223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0C447C"/>
                </a:solidFill>
                <a:latin typeface="Calibri"/>
              </a:rPr>
              <a:t>3 · Set it up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open the model and adjust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its input parameters</a:t>
            </a:r>
          </a:p>
        </p:txBody>
      </p:sp>
      <p:sp>
        <p:nvSpPr>
          <p:cNvPr id="16" name="Oval 15"/>
          <p:cNvSpPr/>
          <p:nvPr/>
        </p:nvSpPr>
        <p:spPr>
          <a:xfrm>
            <a:off x="2854749" y="3317249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2933387" y="3395887"/>
            <a:ext cx="190195" cy="190195"/>
          </a:xfrm>
          <a:prstGeom prst="gear6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63309" y="4152487"/>
            <a:ext cx="3163079" cy="555349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0C447C"/>
                </a:solidFill>
                <a:latin typeface="Calibri"/>
              </a:rPr>
              <a:t>4 · Run it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the app runs your chosen model</a:t>
            </a:r>
          </a:p>
        </p:txBody>
      </p:sp>
      <p:sp>
        <p:nvSpPr>
          <p:cNvPr id="19" name="Oval 18"/>
          <p:cNvSpPr/>
          <p:nvPr/>
        </p:nvSpPr>
        <p:spPr>
          <a:xfrm>
            <a:off x="2854749" y="4234783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2933387" y="4346340"/>
            <a:ext cx="190195" cy="124358"/>
          </a:xfrm>
          <a:prstGeom prst="rightArrow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63309" y="4925148"/>
            <a:ext cx="3163079" cy="651932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0C447C"/>
                </a:solidFill>
                <a:latin typeface="Calibri"/>
              </a:rPr>
              <a:t>5 · See results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tables, charts and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predicted values appear</a:t>
            </a:r>
          </a:p>
        </p:txBody>
      </p:sp>
      <p:sp>
        <p:nvSpPr>
          <p:cNvPr id="22" name="Oval 21"/>
          <p:cNvSpPr/>
          <p:nvPr/>
        </p:nvSpPr>
        <p:spPr>
          <a:xfrm>
            <a:off x="2854749" y="5007444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72" y="5159234"/>
            <a:ext cx="43891" cy="7315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91909" y="5093398"/>
            <a:ext cx="43891" cy="117043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57746" y="5027561"/>
            <a:ext cx="43891" cy="16093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63309" y="5794391"/>
            <a:ext cx="3163079" cy="651932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0C447C"/>
                </a:solidFill>
                <a:latin typeface="Calibri"/>
              </a:rPr>
              <a:t>6 · Ask questions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chat about the model and its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185FA5"/>
                </a:solidFill>
                <a:latin typeface="Calibri"/>
              </a:rPr>
              <a:t>results in plain language</a:t>
            </a:r>
          </a:p>
        </p:txBody>
      </p:sp>
      <p:sp>
        <p:nvSpPr>
          <p:cNvPr id="27" name="Oval 26"/>
          <p:cNvSpPr/>
          <p:nvPr/>
        </p:nvSpPr>
        <p:spPr>
          <a:xfrm>
            <a:off x="2854749" y="5876687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ular Callout 27"/>
          <p:cNvSpPr/>
          <p:nvPr/>
        </p:nvSpPr>
        <p:spPr>
          <a:xfrm>
            <a:off x="2926072" y="5955326"/>
            <a:ext cx="204825" cy="160934"/>
          </a:xfrm>
          <a:prstGeom prst="wedgeRoundRectCallou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344849" y="2100107"/>
            <a:ext cx="0" cy="217311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44849" y="3017642"/>
            <a:ext cx="0" cy="217311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344849" y="3935177"/>
            <a:ext cx="0" cy="217310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44849" y="4707837"/>
            <a:ext cx="0" cy="217311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44849" y="5577081"/>
            <a:ext cx="0" cy="217310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95632" y="2293273"/>
            <a:ext cx="2921623" cy="651932"/>
          </a:xfrm>
          <a:prstGeom prst="roundRect">
            <a:avLst>
              <a:gd name="adj" fmla="val 9000"/>
            </a:avLst>
          </a:prstGeom>
          <a:solidFill>
            <a:srgbClr val="FAEEDA"/>
          </a:solidFill>
          <a:ln w="1778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633806"/>
                </a:solidFill>
                <a:latin typeface="Calibri"/>
              </a:rPr>
              <a:t>RAKIP model library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854F0B"/>
                </a:solidFill>
                <a:latin typeface="Calibri"/>
              </a:rPr>
              <a:t>the public online catalogue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854F0B"/>
                </a:solidFill>
                <a:latin typeface="Calibri"/>
              </a:rPr>
              <a:t>of ready-made models</a:t>
            </a:r>
          </a:p>
        </p:txBody>
      </p:sp>
      <p:sp>
        <p:nvSpPr>
          <p:cNvPr id="35" name="Oval 34"/>
          <p:cNvSpPr/>
          <p:nvPr/>
        </p:nvSpPr>
        <p:spPr>
          <a:xfrm>
            <a:off x="6887072" y="2375569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loud 35"/>
          <p:cNvSpPr/>
          <p:nvPr/>
        </p:nvSpPr>
        <p:spPr>
          <a:xfrm>
            <a:off x="6951080" y="2468837"/>
            <a:ext cx="219456" cy="160934"/>
          </a:xfrm>
          <a:prstGeom prst="cloud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95632" y="3259098"/>
            <a:ext cx="2921623" cy="651932"/>
          </a:xfrm>
          <a:prstGeom prst="roundRect">
            <a:avLst>
              <a:gd name="adj" fmla="val 9000"/>
            </a:avLst>
          </a:prstGeom>
          <a:solidFill>
            <a:srgbClr val="FAEEDA"/>
          </a:solidFill>
          <a:ln w="1778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633806"/>
                </a:solidFill>
                <a:latin typeface="Calibri"/>
              </a:rPr>
              <a:t>Your models folder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854F0B"/>
                </a:solidFill>
                <a:latin typeface="Calibri"/>
              </a:rPr>
              <a:t>downloaded model files,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854F0B"/>
                </a:solidFill>
                <a:latin typeface="Calibri"/>
              </a:rPr>
              <a:t>saved on your computer</a:t>
            </a:r>
          </a:p>
        </p:txBody>
      </p:sp>
      <p:sp>
        <p:nvSpPr>
          <p:cNvPr id="38" name="Oval 37"/>
          <p:cNvSpPr/>
          <p:nvPr/>
        </p:nvSpPr>
        <p:spPr>
          <a:xfrm>
            <a:off x="6887072" y="3341394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62053" y="3471239"/>
            <a:ext cx="197510" cy="131673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65710" y="3432834"/>
            <a:ext cx="87782" cy="40233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95632" y="4925148"/>
            <a:ext cx="2921623" cy="651932"/>
          </a:xfrm>
          <a:prstGeom prst="roundRect">
            <a:avLst>
              <a:gd name="adj" fmla="val 9000"/>
            </a:avLst>
          </a:prstGeom>
          <a:solidFill>
            <a:srgbClr val="FAEEDA"/>
          </a:solidFill>
          <a:ln w="1778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633806"/>
                </a:solidFill>
                <a:latin typeface="Calibri"/>
              </a:rPr>
              <a:t>Results storage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854F0B"/>
                </a:solidFill>
                <a:latin typeface="Calibri"/>
              </a:rPr>
              <a:t>past runs and charts, kept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854F0B"/>
                </a:solidFill>
                <a:latin typeface="Calibri"/>
              </a:rPr>
              <a:t>so you can reopen them later</a:t>
            </a:r>
          </a:p>
        </p:txBody>
      </p:sp>
      <p:sp>
        <p:nvSpPr>
          <p:cNvPr id="42" name="Oval 41"/>
          <p:cNvSpPr/>
          <p:nvPr/>
        </p:nvSpPr>
        <p:spPr>
          <a:xfrm>
            <a:off x="6887072" y="5007444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n 42"/>
          <p:cNvSpPr/>
          <p:nvPr/>
        </p:nvSpPr>
        <p:spPr>
          <a:xfrm>
            <a:off x="6980341" y="5086082"/>
            <a:ext cx="160934" cy="190195"/>
          </a:xfrm>
          <a:prstGeom prst="can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795632" y="5794391"/>
            <a:ext cx="2921623" cy="651932"/>
          </a:xfrm>
          <a:prstGeom prst="roundRect">
            <a:avLst>
              <a:gd name="adj" fmla="val 9000"/>
            </a:avLst>
          </a:prstGeom>
          <a:solidFill>
            <a:srgbClr val="EEEDFE"/>
          </a:solidFill>
          <a:ln w="1778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330" b="1">
                <a:solidFill>
                  <a:srgbClr val="3C3489"/>
                </a:solidFill>
                <a:latin typeface="Calibri"/>
              </a:rPr>
              <a:t>Claude AI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534AB7"/>
                </a:solidFill>
                <a:latin typeface="Calibri"/>
              </a:rPr>
              <a:t>answers your questions about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40">
                <a:solidFill>
                  <a:srgbClr val="534AB7"/>
                </a:solidFill>
                <a:latin typeface="Calibri"/>
              </a:rPr>
              <a:t>the model and the results</a:t>
            </a:r>
          </a:p>
        </p:txBody>
      </p:sp>
      <p:sp>
        <p:nvSpPr>
          <p:cNvPr id="45" name="Oval 44"/>
          <p:cNvSpPr/>
          <p:nvPr/>
        </p:nvSpPr>
        <p:spPr>
          <a:xfrm>
            <a:off x="6887072" y="5876687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4-Point Star 45"/>
          <p:cNvSpPr/>
          <p:nvPr/>
        </p:nvSpPr>
        <p:spPr>
          <a:xfrm>
            <a:off x="6958395" y="5948011"/>
            <a:ext cx="204825" cy="204825"/>
          </a:xfrm>
          <a:prstGeom prst="star4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926389" y="2619239"/>
            <a:ext cx="869243" cy="0"/>
          </a:xfrm>
          <a:prstGeom prst="line">
            <a:avLst/>
          </a:prstGeom>
          <a:ln w="19050">
            <a:solidFill>
              <a:srgbClr val="5F5E5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40970" y="2500367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93" b="0">
                <a:solidFill>
                  <a:srgbClr val="5F5E5A"/>
                </a:solidFill>
                <a:latin typeface="Calibri"/>
              </a:rPr>
              <a:t>browse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27060" y="2945205"/>
            <a:ext cx="0" cy="313893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123642" y="3029715"/>
            <a:ext cx="10972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3" b="0">
                <a:solidFill>
                  <a:srgbClr val="5F5E5A"/>
                </a:solidFill>
                <a:latin typeface="Calibri"/>
              </a:rPr>
              <a:t>download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26389" y="3585065"/>
            <a:ext cx="869243" cy="0"/>
          </a:xfrm>
          <a:prstGeom prst="line">
            <a:avLst/>
          </a:prstGeom>
          <a:ln w="19050">
            <a:solidFill>
              <a:srgbClr val="5F5E5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40970" y="3466193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93" b="0">
                <a:solidFill>
                  <a:srgbClr val="5F5E5A"/>
                </a:solidFill>
                <a:latin typeface="Calibri"/>
              </a:rPr>
              <a:t>pick one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26389" y="5251114"/>
            <a:ext cx="869243" cy="0"/>
          </a:xfrm>
          <a:prstGeom prst="line">
            <a:avLst/>
          </a:prstGeom>
          <a:ln w="19050">
            <a:solidFill>
              <a:srgbClr val="5F5E5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40970" y="5132242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93" b="0">
                <a:solidFill>
                  <a:srgbClr val="5F5E5A"/>
                </a:solidFill>
                <a:latin typeface="Calibri"/>
              </a:rPr>
              <a:t>store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26389" y="6120358"/>
            <a:ext cx="869243" cy="0"/>
          </a:xfrm>
          <a:prstGeom prst="line">
            <a:avLst/>
          </a:prstGeom>
          <a:ln w="19050">
            <a:solidFill>
              <a:srgbClr val="5F5E5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040970" y="6001486"/>
            <a:ext cx="64008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93" b="0">
                <a:solidFill>
                  <a:srgbClr val="5F5E5A"/>
                </a:solidFill>
                <a:latin typeface="Calibri"/>
              </a:rPr>
              <a:t>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C2C2A"/>
                </a:solidFill>
                <a:latin typeface="Calibri"/>
              </a:rPr>
              <a:t>Building the per-model image recipe: FSKX → final image</a:t>
            </a:r>
          </a:p>
          <a:p>
            <a:r>
              <a:rPr sz="1300">
                <a:solidFill>
                  <a:srgbClr val="5F5E5A"/>
                </a:solidFill>
                <a:latin typeface="Calibri"/>
              </a:rPr>
              <a:t>How an extracted FSKX model becomes a Dockerfile, then a tagged image.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46290" y="822960"/>
            <a:ext cx="2456261" cy="466892"/>
          </a:xfrm>
          <a:prstGeom prst="roundRect">
            <a:avLst>
              <a:gd name="adj" fmla="val 9000"/>
            </a:avLst>
          </a:prstGeom>
          <a:solidFill>
            <a:srgbClr val="F1EFE8"/>
          </a:solidFill>
          <a:ln w="1778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2C2C2A"/>
                </a:solidFill>
                <a:latin typeface="Calibri"/>
              </a:rPr>
              <a:t>FSKX archive (extracted)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5F5E5A"/>
                </a:solidFill>
                <a:latin typeface="Calibri"/>
              </a:rPr>
              <a:t>packages.json · model scripts</a:t>
            </a:r>
          </a:p>
        </p:txBody>
      </p:sp>
      <p:sp>
        <p:nvSpPr>
          <p:cNvPr id="4" name="Oval 3"/>
          <p:cNvSpPr/>
          <p:nvPr/>
        </p:nvSpPr>
        <p:spPr>
          <a:xfrm>
            <a:off x="4337730" y="905256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12711" y="1035100"/>
            <a:ext cx="197510" cy="131673"/>
          </a:xfrm>
          <a:prstGeom prst="rect">
            <a:avLst/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6369" y="996696"/>
            <a:ext cx="87782" cy="40233"/>
          </a:xfrm>
          <a:prstGeom prst="rect">
            <a:avLst/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46290" y="1513149"/>
            <a:ext cx="2456261" cy="527791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0C447C"/>
                </a:solidFill>
                <a:latin typeface="Calibri"/>
              </a:rPr>
              <a:t>Resolve dependencies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185FA5"/>
                </a:solidFill>
                <a:latin typeface="Calibri"/>
              </a:rPr>
              <a:t>merge declared + scanned packages</a:t>
            </a:r>
          </a:p>
        </p:txBody>
      </p:sp>
      <p:sp>
        <p:nvSpPr>
          <p:cNvPr id="8" name="Oval 7"/>
          <p:cNvSpPr/>
          <p:nvPr/>
        </p:nvSpPr>
        <p:spPr>
          <a:xfrm>
            <a:off x="4337730" y="1595445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4416369" y="1674083"/>
            <a:ext cx="146304" cy="146304"/>
          </a:xfrm>
          <a:prstGeom prst="donu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2700000">
            <a:off x="4544385" y="1831360"/>
            <a:ext cx="95097" cy="36576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46290" y="2264237"/>
            <a:ext cx="2456261" cy="527791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0C447C"/>
                </a:solidFill>
                <a:latin typeface="Calibri"/>
              </a:rPr>
              <a:t>Build spec + hash → tag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185FA5"/>
                </a:solidFill>
                <a:latin typeface="Calibri"/>
              </a:rPr>
              <a:t>fskx-model-&lt;hash&gt;  (cache key)</a:t>
            </a:r>
          </a:p>
        </p:txBody>
      </p:sp>
      <p:sp>
        <p:nvSpPr>
          <p:cNvPr id="12" name="Oval 11"/>
          <p:cNvSpPr/>
          <p:nvPr/>
        </p:nvSpPr>
        <p:spPr>
          <a:xfrm>
            <a:off x="4337730" y="2346533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4412711" y="2447117"/>
            <a:ext cx="197510" cy="146304"/>
          </a:xfrm>
          <a:prstGeom prst="homePlate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6290" y="3015325"/>
            <a:ext cx="2456261" cy="527791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0C447C"/>
                </a:solidFill>
                <a:latin typeface="Calibri"/>
              </a:rPr>
              <a:t>Gather context for Claude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185FA5"/>
                </a:solidFill>
                <a:latin typeface="Calibri"/>
              </a:rPr>
              <a:t>model facts + known-good hints</a:t>
            </a:r>
          </a:p>
        </p:txBody>
      </p:sp>
      <p:sp>
        <p:nvSpPr>
          <p:cNvPr id="15" name="Oval 14"/>
          <p:cNvSpPr/>
          <p:nvPr/>
        </p:nvSpPr>
        <p:spPr>
          <a:xfrm>
            <a:off x="4337730" y="3097621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0999" y="3168944"/>
            <a:ext cx="160934" cy="204825"/>
          </a:xfrm>
          <a:prstGeom prst="roundRect">
            <a:avLst/>
          </a:prstGeom>
          <a:noFill/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6602" y="3226734"/>
            <a:ext cx="95097" cy="16093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6602" y="3263310"/>
            <a:ext cx="95097" cy="16093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56602" y="3299886"/>
            <a:ext cx="73152" cy="16093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46290" y="3766413"/>
            <a:ext cx="2456261" cy="527791"/>
          </a:xfrm>
          <a:prstGeom prst="roundRect">
            <a:avLst>
              <a:gd name="adj" fmla="val 9000"/>
            </a:avLst>
          </a:prstGeom>
          <a:solidFill>
            <a:srgbClr val="EEEDFE"/>
          </a:solidFill>
          <a:ln w="1778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3C3489"/>
                </a:solidFill>
                <a:latin typeface="Calibri"/>
              </a:rPr>
              <a:t>Claude writes the Dockerfile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534AB7"/>
                </a:solidFill>
                <a:latin typeface="Calibri"/>
              </a:rPr>
              <a:t>the per-model image recipe</a:t>
            </a:r>
          </a:p>
        </p:txBody>
      </p:sp>
      <p:sp>
        <p:nvSpPr>
          <p:cNvPr id="21" name="Oval 20"/>
          <p:cNvSpPr/>
          <p:nvPr/>
        </p:nvSpPr>
        <p:spPr>
          <a:xfrm>
            <a:off x="4337730" y="3848709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4-Point Star 21"/>
          <p:cNvSpPr/>
          <p:nvPr/>
        </p:nvSpPr>
        <p:spPr>
          <a:xfrm>
            <a:off x="4409053" y="3920032"/>
            <a:ext cx="204825" cy="204825"/>
          </a:xfrm>
          <a:prstGeom prst="star4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46290" y="4517501"/>
            <a:ext cx="2456261" cy="466892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0C447C"/>
                </a:solidFill>
                <a:latin typeface="Calibri"/>
              </a:rPr>
              <a:t>Sanitize the Dockerfile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185FA5"/>
                </a:solidFill>
                <a:latin typeface="Calibri"/>
              </a:rPr>
              <a:t>enforce the build contract</a:t>
            </a:r>
          </a:p>
        </p:txBody>
      </p:sp>
      <p:sp>
        <p:nvSpPr>
          <p:cNvPr id="24" name="Oval 23"/>
          <p:cNvSpPr/>
          <p:nvPr/>
        </p:nvSpPr>
        <p:spPr>
          <a:xfrm>
            <a:off x="4337730" y="4599797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 rot="2700000">
            <a:off x="4452945" y="4766218"/>
            <a:ext cx="36576" cy="87782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19200000">
            <a:off x="4526097" y="4674778"/>
            <a:ext cx="36576" cy="168249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46290" y="5207690"/>
            <a:ext cx="2456261" cy="466892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778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0C447C"/>
                </a:solidFill>
                <a:latin typeface="Calibri"/>
              </a:rPr>
              <a:t>docker build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185FA5"/>
                </a:solidFill>
                <a:latin typeface="Calibri"/>
              </a:rPr>
              <a:t>tags fskx-model-&lt;hash&gt;</a:t>
            </a:r>
          </a:p>
        </p:txBody>
      </p:sp>
      <p:sp>
        <p:nvSpPr>
          <p:cNvPr id="28" name="Oval 27"/>
          <p:cNvSpPr/>
          <p:nvPr/>
        </p:nvSpPr>
        <p:spPr>
          <a:xfrm>
            <a:off x="4337730" y="5289986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ear 6 28"/>
          <p:cNvSpPr/>
          <p:nvPr/>
        </p:nvSpPr>
        <p:spPr>
          <a:xfrm>
            <a:off x="4416369" y="5368625"/>
            <a:ext cx="190195" cy="190195"/>
          </a:xfrm>
          <a:prstGeom prst="gear6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46290" y="5897880"/>
            <a:ext cx="2456261" cy="527791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177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93776" rIns="45720" tIns="36576" bIns="18288"/>
          <a:lstStyle/>
          <a:p>
            <a:pPr algn="l"/>
            <a:r>
              <a:rPr sz="1118" b="1">
                <a:solidFill>
                  <a:srgbClr val="085041"/>
                </a:solidFill>
                <a:latin typeface="Calibri"/>
              </a:rPr>
              <a:t>Final per-model image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59">
                <a:solidFill>
                  <a:srgbClr val="0F6E56"/>
                </a:solidFill>
                <a:latin typeface="Calibri"/>
              </a:rPr>
              <a:t>ready to run as a sibling container</a:t>
            </a:r>
          </a:p>
        </p:txBody>
      </p:sp>
      <p:sp>
        <p:nvSpPr>
          <p:cNvPr id="31" name="Oval 30"/>
          <p:cNvSpPr/>
          <p:nvPr/>
        </p:nvSpPr>
        <p:spPr>
          <a:xfrm>
            <a:off x="4337730" y="5980176"/>
            <a:ext cx="347472" cy="34747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be 31"/>
          <p:cNvSpPr/>
          <p:nvPr/>
        </p:nvSpPr>
        <p:spPr>
          <a:xfrm>
            <a:off x="4423684" y="6066129"/>
            <a:ext cx="175564" cy="175564"/>
          </a:xfrm>
          <a:prstGeom prst="cub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474421" y="1289852"/>
            <a:ext cx="0" cy="213147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74421" y="2040940"/>
            <a:ext cx="0" cy="213147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74421" y="2792028"/>
            <a:ext cx="0" cy="213147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74421" y="3543117"/>
            <a:ext cx="0" cy="213146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74421" y="4294205"/>
            <a:ext cx="0" cy="213146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74421" y="4984394"/>
            <a:ext cx="0" cy="213147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74421" y="5674583"/>
            <a:ext cx="0" cy="213147"/>
          </a:xfrm>
          <a:prstGeom prst="line">
            <a:avLst/>
          </a:prstGeom>
          <a:ln w="19050">
            <a:solidFill>
              <a:srgbClr val="5F5E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02552" y="1777044"/>
            <a:ext cx="121798" cy="0"/>
          </a:xfrm>
          <a:prstGeom prst="line">
            <a:avLst/>
          </a:prstGeom>
          <a:ln w="19050">
            <a:solidFill>
              <a:srgbClr val="B4B2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64949" y="1630740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r>
              <a:rPr sz="879">
                <a:solidFill>
                  <a:srgbClr val="5F5E5A"/>
                </a:solidFill>
                <a:latin typeface="Calibri"/>
              </a:rPr>
              <a:t>declared list + scanned script imports</a:t>
            </a:r>
          </a:p>
          <a:p>
            <a:pPr>
              <a:spcBef>
                <a:spcPts val="100"/>
              </a:spcBef>
            </a:pPr>
            <a:r>
              <a:rPr sz="879">
                <a:solidFill>
                  <a:srgbClr val="5F5E5A"/>
                </a:solidFill>
                <a:latin typeface="Calibri"/>
              </a:rPr>
              <a:t>empty packages.json -&gt; scan still finds deps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02552" y="2528133"/>
            <a:ext cx="121798" cy="0"/>
          </a:xfrm>
          <a:prstGeom prst="line">
            <a:avLst/>
          </a:prstGeom>
          <a:ln w="19050">
            <a:solidFill>
              <a:srgbClr val="B4B2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64949" y="2381829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r>
              <a:rPr sz="879">
                <a:solidFill>
                  <a:srgbClr val="5F5E5A"/>
                </a:solidFill>
                <a:latin typeface="Calibri"/>
              </a:rPr>
              <a:t>hash(language, version, packages) -&gt; tag</a:t>
            </a:r>
          </a:p>
          <a:p>
            <a:pPr>
              <a:spcBef>
                <a:spcPts val="100"/>
              </a:spcBef>
            </a:pPr>
            <a:r>
              <a:rPr sz="879">
                <a:solidFill>
                  <a:srgbClr val="5F5E5A"/>
                </a:solidFill>
                <a:latin typeface="Calibri"/>
              </a:rPr>
              <a:t>identical deps reuse the cached image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02552" y="3279221"/>
            <a:ext cx="121798" cy="0"/>
          </a:xfrm>
          <a:prstGeom prst="line">
            <a:avLst/>
          </a:prstGeom>
          <a:ln w="19050">
            <a:solidFill>
              <a:srgbClr val="B4B2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64949" y="3132917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r>
              <a:rPr sz="879">
                <a:solidFill>
                  <a:srgbClr val="5F5E5A"/>
                </a:solidFill>
                <a:latin typeface="Calibri"/>
              </a:rPr>
              <a:t>arch, lang/version, packages, raw json,</a:t>
            </a:r>
          </a:p>
          <a:p>
            <a:pPr>
              <a:spcBef>
                <a:spcPts val="100"/>
              </a:spcBef>
            </a:pPr>
            <a:r>
              <a:rPr sz="879">
                <a:solidFill>
                  <a:srgbClr val="5F5E5A"/>
                </a:solidFill>
                <a:latin typeface="Calibri"/>
              </a:rPr>
              <a:t>README, scripts, known-good build hints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02552" y="4030309"/>
            <a:ext cx="121798" cy="0"/>
          </a:xfrm>
          <a:prstGeom prst="line">
            <a:avLst/>
          </a:prstGeom>
          <a:ln w="19050">
            <a:solidFill>
              <a:srgbClr val="B4B2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64949" y="3884005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r>
              <a:rPr sz="879">
                <a:solidFill>
                  <a:srgbClr val="5F5E5A"/>
                </a:solidFill>
                <a:latin typeface="Calibri"/>
              </a:rPr>
              <a:t>rules: base image, system + lang packages,</a:t>
            </a:r>
          </a:p>
          <a:p>
            <a:pPr>
              <a:spcBef>
                <a:spcPts val="100"/>
              </a:spcBef>
            </a:pPr>
            <a:r>
              <a:rPr sz="879">
                <a:solidFill>
                  <a:srgbClr val="5F5E5A"/>
                </a:solidFill>
                <a:latin typeface="Calibri"/>
              </a:rPr>
              <a:t>no ENTRYPOINT/CMD, COPY app/, Agg backend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02552" y="4750948"/>
            <a:ext cx="121798" cy="0"/>
          </a:xfrm>
          <a:prstGeom prst="line">
            <a:avLst/>
          </a:prstGeom>
          <a:ln w="19050">
            <a:solidFill>
              <a:srgbClr val="B4B2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864949" y="4604644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r>
              <a:rPr sz="879">
                <a:solidFill>
                  <a:srgbClr val="5F5E5A"/>
                </a:solidFill>
                <a:latin typeface="Calibri"/>
              </a:rPr>
              <a:t>strip ``` fences &amp; ENTRYPOINT/CMD,</a:t>
            </a:r>
          </a:p>
          <a:p>
            <a:pPr>
              <a:spcBef>
                <a:spcPts val="100"/>
              </a:spcBef>
            </a:pPr>
            <a:r>
              <a:rPr sz="879">
                <a:solidFill>
                  <a:srgbClr val="5F5E5A"/>
                </a:solidFill>
                <a:latin typeface="Calibri"/>
              </a:rPr>
              <a:t>ensure COPY app/ /app/ is present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02552" y="5441137"/>
            <a:ext cx="121798" cy="0"/>
          </a:xfrm>
          <a:prstGeom prst="line">
            <a:avLst/>
          </a:prstGeom>
          <a:ln w="19050">
            <a:solidFill>
              <a:srgbClr val="B4B2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64949" y="5294833"/>
            <a:ext cx="4206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rIns="0" tIns="0" bIns="0">
            <a:spAutoFit/>
          </a:bodyPr>
          <a:lstStyle/>
          <a:p>
            <a:r>
              <a:rPr sz="879">
                <a:solidFill>
                  <a:srgbClr val="5F5E5A"/>
                </a:solidFill>
                <a:latin typeface="Calibri"/>
              </a:rPr>
              <a:t>build context = Dockerfile +</a:t>
            </a:r>
          </a:p>
          <a:p>
            <a:pPr>
              <a:spcBef>
                <a:spcPts val="100"/>
              </a:spcBef>
            </a:pPr>
            <a:r>
              <a:rPr sz="879">
                <a:solidFill>
                  <a:srgbClr val="5F5E5A"/>
                </a:solidFill>
                <a:latin typeface="Calibri"/>
              </a:rPr>
              <a:t>wrapper scripts (run_python_model.py / .R)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3231306" y="2528133"/>
            <a:ext cx="1014984" cy="0"/>
          </a:xfrm>
          <a:prstGeom prst="line">
            <a:avLst/>
          </a:prstGeom>
          <a:ln w="19050">
            <a:solidFill>
              <a:srgbClr val="0F6E5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31306" y="2528133"/>
            <a:ext cx="0" cy="3633642"/>
          </a:xfrm>
          <a:prstGeom prst="line">
            <a:avLst/>
          </a:prstGeom>
          <a:ln w="19050">
            <a:solidFill>
              <a:srgbClr val="0F6E5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31306" y="6161775"/>
            <a:ext cx="1014984" cy="0"/>
          </a:xfrm>
          <a:prstGeom prst="line">
            <a:avLst/>
          </a:prstGeom>
          <a:ln w="19050">
            <a:solidFill>
              <a:srgbClr val="0F6E5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 rot="16200000">
            <a:off x="2057948" y="4226082"/>
            <a:ext cx="210312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79" b="1">
                <a:solidFill>
                  <a:srgbClr val="0F6E56"/>
                </a:solidFill>
                <a:latin typeface="Calibri"/>
              </a:rPr>
              <a:t>cache hit — reuse the existing image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3799697" y="5441137"/>
            <a:ext cx="446593" cy="0"/>
          </a:xfrm>
          <a:prstGeom prst="line">
            <a:avLst/>
          </a:prstGeom>
          <a:ln w="19050">
            <a:solidFill>
              <a:srgbClr val="A32D2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799697" y="4517501"/>
            <a:ext cx="0" cy="923636"/>
          </a:xfrm>
          <a:prstGeom prst="line">
            <a:avLst/>
          </a:prstGeom>
          <a:ln w="19050">
            <a:solidFill>
              <a:srgbClr val="A32D2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799697" y="3279221"/>
            <a:ext cx="0" cy="751088"/>
          </a:xfrm>
          <a:prstGeom prst="line">
            <a:avLst/>
          </a:prstGeom>
          <a:ln w="19050">
            <a:solidFill>
              <a:srgbClr val="A32D2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799697" y="3279221"/>
            <a:ext cx="446593" cy="0"/>
          </a:xfrm>
          <a:prstGeom prst="line">
            <a:avLst/>
          </a:prstGeom>
          <a:ln w="19050">
            <a:solidFill>
              <a:srgbClr val="A32D2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434303" y="4030309"/>
            <a:ext cx="730788" cy="487192"/>
          </a:xfrm>
          <a:prstGeom prst="roundRect">
            <a:avLst>
              <a:gd name="adj" fmla="val 9000"/>
            </a:avLst>
          </a:prstGeom>
          <a:solidFill>
            <a:srgbClr val="FCEBEB"/>
          </a:solidFill>
          <a:ln w="17780">
            <a:solidFill>
              <a:srgbClr val="A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45720" tIns="36576" bIns="18288"/>
          <a:lstStyle/>
          <a:p>
            <a:pPr algn="ctr"/>
            <a:r>
              <a:rPr sz="959" b="1">
                <a:solidFill>
                  <a:srgbClr val="791F1F"/>
                </a:solidFill>
                <a:latin typeface="Calibri"/>
              </a:rPr>
              <a:t>AI fix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879">
                <a:solidFill>
                  <a:srgbClr val="A32D2D"/>
                </a:solidFill>
                <a:latin typeface="Calibri"/>
              </a:rPr>
              <a:t>rewrite recipe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25011" y="5370088"/>
            <a:ext cx="6400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79" b="0">
                <a:solidFill>
                  <a:srgbClr val="A32D2D"/>
                </a:solidFill>
                <a:latin typeface="Calibri"/>
              </a:rPr>
              <a:t>build fails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Calibri"/>
              </a:rPr>
              <a:t>AI-image path, for models needing system software (e.g. JAGS, Stan, GDAL). Simpler R or Python models use a micromamba env instead — no Dockerfile.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